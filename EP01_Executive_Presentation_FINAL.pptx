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C27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generated_image_5DE3038AB8C2_01.pn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D2A">
              <a:alpha val="6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5943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F1C27D"/>
                </a:solidFill>
              </a:rPr>
              <a:t>EP01 EXECUTIVE QC SUMMARY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85800" y="1143000"/>
            <a:ext cx="6126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นักสืบกับความกล้า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ที่อยู่ปลายเชือก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13232" y="27889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2F4"/>
                </a:solidFill>
              </a:rPr>
              <a:t>Production readiness, Canon health และความเสี่ยงก่อนเข้าสู่การผลิตเต็มรูปแบบ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13232" y="3977640"/>
            <a:ext cx="2331720" cy="566928"/>
          </a:xfrm>
          <a:prstGeom prst="roundRect">
            <a:avLst/>
          </a:prstGeom>
          <a:solidFill>
            <a:srgbClr val="3B8C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1422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PRODUCTION UNLOCKED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Executive status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37F"/>
                </a:solidFill>
              </a:rPr>
              <a:t>ภาพรวมการอนุมัติ EP01 ก่อนเข้าสู่ Production Pipeline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4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9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490472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37F"/>
                </a:solidFill>
              </a:rPr>
              <a:t>CCI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" y="1837944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C6E"/>
                </a:solidFill>
              </a:rPr>
              <a:t>96 / 100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971800" y="132588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4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9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36392" y="1490472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37F"/>
                </a:solidFill>
              </a:rPr>
              <a:t>Canon Health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36392" y="1837944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C6E"/>
                </a:solidFill>
              </a:rPr>
              <a:t>MASTER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303520" y="132588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4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9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68112" y="1490472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37F"/>
                </a:solidFill>
              </a:rPr>
              <a:t>Scenes / Frames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68112" y="1837944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E8C8A"/>
                </a:solidFill>
              </a:rPr>
              <a:t>11 / 39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635240" y="1325880"/>
            <a:ext cx="21488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4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9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99832" y="1490472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37F"/>
                </a:solidFill>
              </a:rPr>
              <a:t>Risk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99832" y="1837944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C6E"/>
                </a:solidFill>
              </a:rPr>
              <a:t>LOW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966960" y="1325880"/>
            <a:ext cx="1600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E4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3B9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131552" y="1490472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37F"/>
                </a:solidFill>
              </a:rPr>
              <a:t>Runtime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31552" y="1837944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A23C"/>
                </a:solidFill>
              </a:rPr>
              <a:t>8:20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40080" y="3063240"/>
            <a:ext cx="10927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383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ข้อสรุปสำหรับผู้บริหาร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" y="39319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C6E"/>
                </a:solidFill>
              </a:rPr>
              <a:t>อนุมัติเดินหน้าผลิต</a:t>
            </a:r>
            <a:r>
              <a:rPr lang="en-US" sz="1800" dirty="0">
                <a:solidFill>
                  <a:srgbClr val="17324D"/>
                </a:solidFill>
              </a:rPr>
              <a:t>  เนื่องจาก Canon Audit ผ่านครบ ไม่มีปมสำคัญถูกเปิดเผยก่อนเวลา และทรัพย์สินการผลิตครบ 39 เฟรม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4360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C"/>
                </a:solidFill>
              </a:rPr>
              <a:t>EP01 Executive QC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Canon scorecard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37F"/>
                </a:solidFill>
              </a:rPr>
              <a:t>คะแนนความต่อเนื่องรายหมวด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</a:rPr>
              <a:t>Timeline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14600" y="1389888"/>
            <a:ext cx="6858000" cy="237744"/>
          </a:xfrm>
          <a:prstGeom prst="rect">
            <a:avLst/>
          </a:prstGeom>
          <a:solidFill>
            <a:srgbClr val="E8ED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4600" y="1389888"/>
            <a:ext cx="6515100" cy="237744"/>
          </a:xfrm>
          <a:prstGeom prst="rect">
            <a:avLst/>
          </a:prstGeom>
          <a:solidFill>
            <a:srgbClr val="3B8C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46920" y="1353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19/20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</a:rPr>
              <a:t>Character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14600" y="2231136"/>
            <a:ext cx="6858000" cy="237744"/>
          </a:xfrm>
          <a:prstGeom prst="rect">
            <a:avLst/>
          </a:prstGeom>
          <a:solidFill>
            <a:srgbClr val="E8ED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2231136"/>
            <a:ext cx="6858000" cy="237744"/>
          </a:xfrm>
          <a:prstGeom prst="rect">
            <a:avLst/>
          </a:prstGeom>
          <a:solidFill>
            <a:srgbClr val="E6A2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692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20/20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054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</a:rPr>
              <a:t>Location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514600" y="3072384"/>
            <a:ext cx="6858000" cy="237744"/>
          </a:xfrm>
          <a:prstGeom prst="rect">
            <a:avLst/>
          </a:prstGeom>
          <a:solidFill>
            <a:srgbClr val="E8ED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3072384"/>
            <a:ext cx="6515100" cy="237744"/>
          </a:xfrm>
          <a:prstGeom prst="rect">
            <a:avLst/>
          </a:prstGeom>
          <a:solidFill>
            <a:srgbClr val="3B8C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46920" y="3035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19/20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895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</a:rPr>
              <a:t>Mystery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514600" y="3913632"/>
            <a:ext cx="6858000" cy="237744"/>
          </a:xfrm>
          <a:prstGeom prst="rect">
            <a:avLst/>
          </a:prstGeom>
          <a:solidFill>
            <a:srgbClr val="E8ED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3913632"/>
            <a:ext cx="6515100" cy="237744"/>
          </a:xfrm>
          <a:prstGeom prst="rect">
            <a:avLst/>
          </a:prstGeom>
          <a:solidFill>
            <a:srgbClr val="3B8C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46920" y="3877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19/20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736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</a:rPr>
              <a:t>Arc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514600" y="4754880"/>
            <a:ext cx="6858000" cy="237744"/>
          </a:xfrm>
          <a:prstGeom prst="rect">
            <a:avLst/>
          </a:prstGeom>
          <a:solidFill>
            <a:srgbClr val="E8ED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4600" y="4754880"/>
            <a:ext cx="6515100" cy="237744"/>
          </a:xfrm>
          <a:prstGeom prst="rect">
            <a:avLst/>
          </a:prstGeom>
          <a:solidFill>
            <a:srgbClr val="3B8C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46920" y="4718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19/20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784080" y="5166360"/>
            <a:ext cx="1645920" cy="658368"/>
          </a:xfrm>
          <a:prstGeom prst="roundRect">
            <a:avLst/>
          </a:prstGeom>
          <a:solidFill>
            <a:srgbClr val="D9EAD3"/>
          </a:solidFill>
          <a:ln w="12700">
            <a:solidFill>
              <a:srgbClr val="3B8C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6960" y="5367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C6E"/>
                </a:solidFill>
              </a:rPr>
              <a:t>CCI 96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94360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C"/>
                </a:solidFill>
              </a:rPr>
              <a:t>EP01 Executive QC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</a:rPr>
              <a:t>Readiness &amp; risk controls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37F"/>
                </a:solidFill>
              </a:rPr>
              <a:t>สถานะหน่วยงานและจุดควบคุม Canon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2468880" cy="795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600200"/>
            <a:ext cx="274320" cy="274320"/>
          </a:xfrm>
          <a:prstGeom prst="ellipse">
            <a:avLst/>
          </a:prstGeom>
          <a:solidFill>
            <a:srgbClr val="3B8C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52728" y="1572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Writing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52728" y="18562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C6E"/>
                </a:solidFill>
              </a:rPr>
              <a:t>READY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0" y="1371600"/>
            <a:ext cx="2468880" cy="795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1600200"/>
            <a:ext cx="274320" cy="274320"/>
          </a:xfrm>
          <a:prstGeom prst="ellipse">
            <a:avLst/>
          </a:prstGeom>
          <a:solidFill>
            <a:srgbClr val="3B8C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41648" y="1572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Storyboard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41648" y="18562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C6E"/>
                </a:solidFill>
              </a:rPr>
              <a:t>READY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63640" y="1371600"/>
            <a:ext cx="2468880" cy="795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8232" y="1600200"/>
            <a:ext cx="274320" cy="274320"/>
          </a:xfrm>
          <a:prstGeom prst="ellipse">
            <a:avLst/>
          </a:prstGeom>
          <a:solidFill>
            <a:srgbClr val="3B8C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0568" y="1572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Prompt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30568" y="18562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C6E"/>
                </a:solidFill>
              </a:rPr>
              <a:t>READY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052560" y="1371600"/>
            <a:ext cx="2468880" cy="795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17152" y="1600200"/>
            <a:ext cx="274320" cy="274320"/>
          </a:xfrm>
          <a:prstGeom prst="ellipse">
            <a:avLst/>
          </a:prstGeom>
          <a:solidFill>
            <a:srgbClr val="3B8C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19488" y="1572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Art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19488" y="18562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C6E"/>
                </a:solidFill>
              </a:rPr>
              <a:t>READY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2560320"/>
            <a:ext cx="2468880" cy="795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" y="2788920"/>
            <a:ext cx="274320" cy="274320"/>
          </a:xfrm>
          <a:prstGeom prst="ellipse">
            <a:avLst/>
          </a:prstGeom>
          <a:solidFill>
            <a:srgbClr val="3B8C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52728" y="27614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Animation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52728" y="3044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C6E"/>
                </a:solidFill>
              </a:rPr>
              <a:t>READY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0" y="2560320"/>
            <a:ext cx="2468880" cy="795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39312" y="2788920"/>
            <a:ext cx="274320" cy="274320"/>
          </a:xfrm>
          <a:prstGeom prst="ellipse">
            <a:avLst/>
          </a:prstGeom>
          <a:solidFill>
            <a:srgbClr val="3B8C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41648" y="27614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Editing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041648" y="3044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C6E"/>
                </a:solidFill>
              </a:rPr>
              <a:t>READY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63640" y="2560320"/>
            <a:ext cx="2468880" cy="795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28232" y="2788920"/>
            <a:ext cx="274320" cy="274320"/>
          </a:xfrm>
          <a:prstGeom prst="ellipse">
            <a:avLst/>
          </a:prstGeom>
          <a:solidFill>
            <a:srgbClr val="3B8C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30568" y="27614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QC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830568" y="3044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C6E"/>
                </a:solidFill>
              </a:rPr>
              <a:t>READY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" y="4114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Canon protection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77240" y="46177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7324D"/>
                </a:solidFill>
              </a:rPr>
              <a:t>• ไม่มีการเปิดเผยโรงเรียนร้าง, Shared Memory หรือห้องแล็บ</a:t>
            </a:r>
            <a:endParaRPr lang="en-US" sz="1600" dirty="0"/>
          </a:p>
          <a:p>
            <a:r>
              <a:rPr lang="en-US" sz="1600" dirty="0">
                <a:solidFill>
                  <a:srgbClr val="17324D"/>
                </a:solidFill>
              </a:rPr>
              <a:t>• Rabbit B เปิดตัวถูกลำดับ และความสัมพันธ์ Route → Rabbit B ขยับจาก 0 → 1</a:t>
            </a:r>
            <a:endParaRPr lang="en-US" sz="1600" dirty="0"/>
          </a:p>
          <a:p>
            <a:r>
              <a:rPr lang="en-US" sz="1600" dirty="0">
                <a:solidFill>
                  <a:srgbClr val="17324D"/>
                </a:solidFill>
              </a:rPr>
              <a:t>• เบาะแสหลัก 7 จุดอยู่ในแผนตัดต่อครบ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94360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C"/>
                </a:solidFill>
              </a:rPr>
              <a:t>EP01 Executive QC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Executive recommendation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1C27D"/>
                </a:solidFill>
              </a:rPr>
              <a:t>อนุมัติเข้าสู่ Production Pipeline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2788920"/>
            <a:ext cx="1508760" cy="731520"/>
          </a:xfrm>
          <a:prstGeom prst="roundRect">
            <a:avLst/>
          </a:prstGeom>
          <a:solidFill>
            <a:srgbClr val="274963"/>
          </a:solidFill>
          <a:ln w="12700">
            <a:solidFill>
              <a:srgbClr val="6D89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0083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Storyboard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30552" y="29992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C27D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96312" y="2788920"/>
            <a:ext cx="1508760" cy="731520"/>
          </a:xfrm>
          <a:prstGeom prst="roundRect">
            <a:avLst/>
          </a:prstGeom>
          <a:solidFill>
            <a:srgbClr val="274963"/>
          </a:solidFill>
          <a:ln w="12700">
            <a:solidFill>
              <a:srgbClr val="6D89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87752" y="30083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Image Generation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32504" y="29992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C27D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98264" y="2788920"/>
            <a:ext cx="1508760" cy="731520"/>
          </a:xfrm>
          <a:prstGeom prst="roundRect">
            <a:avLst/>
          </a:prstGeom>
          <a:solidFill>
            <a:srgbClr val="274963"/>
          </a:solidFill>
          <a:ln w="12700">
            <a:solidFill>
              <a:srgbClr val="6D89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9704" y="30083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Animation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34456" y="29992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C27D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00216" y="2788920"/>
            <a:ext cx="1508760" cy="731520"/>
          </a:xfrm>
          <a:prstGeom prst="roundRect">
            <a:avLst/>
          </a:prstGeom>
          <a:solidFill>
            <a:srgbClr val="274963"/>
          </a:solidFill>
          <a:ln w="12700">
            <a:solidFill>
              <a:srgbClr val="6D89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30083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Editing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36408" y="29992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C27D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02168" y="2788920"/>
            <a:ext cx="1508760" cy="731520"/>
          </a:xfrm>
          <a:prstGeom prst="roundRect">
            <a:avLst/>
          </a:prstGeom>
          <a:solidFill>
            <a:srgbClr val="274963"/>
          </a:solidFill>
          <a:ln w="12700">
            <a:solidFill>
              <a:srgbClr val="6D89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30083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 QC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38360" y="29992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C27D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104120" y="2788920"/>
            <a:ext cx="1508760" cy="731520"/>
          </a:xfrm>
          <a:prstGeom prst="roundRect">
            <a:avLst/>
          </a:prstGeom>
          <a:solidFill>
            <a:srgbClr val="3B8C6E"/>
          </a:solidFill>
          <a:ln w="12700">
            <a:solidFill>
              <a:srgbClr val="6D89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95560" y="30083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Release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617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EEF2"/>
                </a:solidFill>
              </a:rPr>
              <a:t>เงื่อนไขคงสถานะ UNLOCKED: ไม่มี ERROR, ไม่มี FAIL Scene และ CCI ≥ 90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160520" y="5349240"/>
            <a:ext cx="3840480" cy="621792"/>
          </a:xfrm>
          <a:prstGeom prst="roundRect">
            <a:avLst/>
          </a:prstGeom>
          <a:solidFill>
            <a:srgbClr val="3B8C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55504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APPROVED FOR PRODUCTION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Before We Close the Gate - EP01 Executive Summary</dc:title>
  <dc:subject>EP01 Executive QC Summary</dc:subject>
  <dc:creator>Microsoft 365 Copilot</dc:creator>
  <cp:lastModifiedBy>Microsoft 365 Copilot</cp:lastModifiedBy>
  <cp:revision>1</cp:revision>
  <dcterms:created xsi:type="dcterms:W3CDTF">2026-09-29T12:29:47Z</dcterms:created>
  <dcterms:modified xsi:type="dcterms:W3CDTF">2026-09-29T12:29:47Z</dcterms:modified>
</cp:coreProperties>
</file>